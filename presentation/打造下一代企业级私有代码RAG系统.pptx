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50.png"/><Relationship Id="rId8" Type="http://schemas.openxmlformats.org/officeDocument/2006/relationships/image" Target="../media/image53.png"/><Relationship Id="rId9" Type="http://schemas.openxmlformats.org/officeDocument/2006/relationships/image" Target="../media/image56.png"/><Relationship Id="rId10" Type="http://schemas.openxmlformats.org/officeDocument/2006/relationships/image" Target="../media/image5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8.png"/><Relationship Id="rId4" Type="http://schemas.openxmlformats.org/officeDocument/2006/relationships/image" Target="../media/image52.png"/><Relationship Id="rId5" Type="http://schemas.openxmlformats.org/officeDocument/2006/relationships/image" Target="../media/image55.png"/><Relationship Id="rId6" Type="http://schemas.openxmlformats.org/officeDocument/2006/relationships/image" Target="../media/image5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9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Relationship Id="rId6" Type="http://schemas.openxmlformats.org/officeDocument/2006/relationships/image" Target="../media/image5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Relationship Id="rId9" Type="http://schemas.openxmlformats.org/officeDocument/2006/relationships/image" Target="../media/image15.png"/><Relationship Id="rId10" Type="http://schemas.openxmlformats.org/officeDocument/2006/relationships/image" Target="../media/image20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0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9.png"/><Relationship Id="rId1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EF2F2">
                  <a:alpha val="95000"/>
                </a:srgbClr>
              </a:gs>
              <a:gs pos="50000">
                <a:srgbClr val="FFF7ED">
                  <a:alpha val="90000"/>
                </a:srgbClr>
              </a:gs>
              <a:gs pos="100000">
                <a:srgbClr val="FEE2E2">
                  <a:alpha val="95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743931" y="444569"/>
            <a:ext cx="1142971" cy="86346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04792" y="5580907"/>
            <a:ext cx="952476" cy="89683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181470" y="1241713"/>
            <a:ext cx="533386" cy="27882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29154" y="1178069"/>
            <a:ext cx="533386" cy="40611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76838" y="1196253"/>
            <a:ext cx="533386" cy="3697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04992" y="1952624"/>
            <a:ext cx="7572185" cy="704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810"/>
              </a:lnSpc>
              <a:spcBef>
                <a:spcPts val="0"/>
              </a:spcBef>
              <a:spcAft>
                <a:spcPts val="1560"/>
              </a:spcAft>
            </a:pPr>
            <a:r>
              <a:rPr sz="3707" b="1">
                <a:solidFill>
                  <a:srgbClr val="DC143C"/>
                </a:solidFill>
              </a:rPr>
              <a:t>让 Copilot 真正懂我们的业务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8123" y="3019424"/>
            <a:ext cx="761980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87171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962500" y="2915892"/>
            <a:ext cx="266693" cy="22611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381590" y="3019424"/>
            <a:ext cx="761980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87171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4992" y="3390899"/>
            <a:ext cx="7572185" cy="6000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095"/>
              </a:lnSpc>
              <a:spcBef>
                <a:spcPts val="0"/>
              </a:spcBef>
              <a:spcAft>
                <a:spcPts val="2080"/>
              </a:spcAft>
            </a:pPr>
            <a:r>
              <a:rPr sz="2511" b="1">
                <a:solidFill>
                  <a:srgbClr val="DC143C"/>
                </a:solidFill>
              </a:rPr>
              <a:t>企业级私有 RAG 最佳实践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992" y="4295774"/>
            <a:ext cx="7572185" cy="876299"/>
          </a:xfrm>
          <a:prstGeom prst="roundRect">
            <a:avLst>
              <a:gd name="adj" fmla="val 34782"/>
            </a:avLst>
          </a:prstGeom>
          <a:solidFill>
            <a:srgbClr val="FFFFFF">
              <a:alpha val="80000"/>
            </a:srgbClr>
          </a:solidFill>
          <a:ln w="1651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8834" y="4543425"/>
            <a:ext cx="692450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2D3748"/>
                </a:solidFill>
              </a:rPr>
              <a:t> 从</a:t>
            </a:r>
            <a:r>
              <a:rPr sz="1435" b="1">
                <a:solidFill>
                  <a:srgbClr val="DC143C"/>
                </a:solidFill>
              </a:rPr>
              <a:t>"大杂烩检索"</a:t>
            </a:r>
            <a:r>
              <a:rPr sz="1435" b="0">
                <a:solidFill>
                  <a:srgbClr val="2D3748"/>
                </a:solidFill>
              </a:rPr>
              <a:t>到</a:t>
            </a:r>
            <a:r>
              <a:rPr sz="1435" b="1">
                <a:solidFill>
                  <a:srgbClr val="FF6B6B"/>
                </a:solidFill>
              </a:rPr>
              <a:t>"意图路由 + 零信任隔离"</a:t>
            </a:r>
            <a:r>
              <a:rPr sz="1435" b="0">
                <a:solidFill>
                  <a:srgbClr val="2D3748"/>
                </a:solidFill>
              </a:rPr>
              <a:t>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771905" y="5527357"/>
            <a:ext cx="228594" cy="16573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76698" y="5476875"/>
            <a:ext cx="9239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D3748"/>
                </a:solidFill>
              </a:rPr>
              <a:t>演讲人：[你的名字/职位]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5392" y="5495924"/>
            <a:ext cx="9524" cy="2286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619709" y="5521642"/>
            <a:ext cx="228594" cy="1771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24501" y="5476875"/>
            <a:ext cx="5048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D3748"/>
                </a:solidFill>
              </a:rPr>
              <a:t>企业级知识库实践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55204"/>
            <a:ext cx="342891" cy="28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773" y="114300"/>
            <a:ext cx="284790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传统 RAG 的痛点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073" y="228600"/>
            <a:ext cx="83817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为什么过去总是失败？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1980" y="1543050"/>
            <a:ext cx="4571885" cy="45720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95687" y="177165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48083" y="1982665"/>
            <a:ext cx="304792" cy="18756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639" y="1133475"/>
            <a:ext cx="533386" cy="581025"/>
          </a:xfrm>
          <a:prstGeom prst="roundRect">
            <a:avLst>
              <a:gd name="adj" fmla="val 35710714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14937" y="1291736"/>
            <a:ext cx="304792" cy="2168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86422" y="1095374"/>
            <a:ext cx="4495687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DC143C"/>
                </a:solidFill>
              </a:rPr>
              <a:t>大杂烩文档（Garbage In）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422" y="1571625"/>
            <a:ext cx="449568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D3748"/>
                </a:solidFill>
              </a:rPr>
              <a:t>架构说明、API 字典、操作步骤混在一起，切片后语义支离破碎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639" y="2219324"/>
            <a:ext cx="533386" cy="581025"/>
          </a:xfrm>
          <a:prstGeom prst="roundRect">
            <a:avLst>
              <a:gd name="adj" fmla="val 35710714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14937" y="2368794"/>
            <a:ext cx="304792" cy="2344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86422" y="2181225"/>
            <a:ext cx="4495687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DC143C"/>
                </a:solidFill>
              </a:rPr>
              <a:t>跨模块幻觉（Cross-module Hallucination）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422" y="3057525"/>
            <a:ext cx="449568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D3748"/>
                </a:solidFill>
              </a:rPr>
              <a:t>向量检索无法区分相似概念，AI 容易精神分裂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639" y="3705224"/>
            <a:ext cx="533386" cy="581025"/>
          </a:xfrm>
          <a:prstGeom prst="roundRect">
            <a:avLst>
              <a:gd name="adj" fmla="val 35710714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3848832"/>
            <a:ext cx="304792" cy="246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86422" y="3667124"/>
            <a:ext cx="4495687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DC143C"/>
                </a:solidFill>
              </a:rPr>
              <a:t>数据越权风险（Security Risk）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422" y="4143375"/>
            <a:ext cx="449568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D3748"/>
                </a:solidFill>
              </a:rPr>
              <a:t>人员可能随便获取未授权内容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639" y="4829175"/>
            <a:ext cx="5181470" cy="1743075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595142" y="5634672"/>
            <a:ext cx="17430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67333" y="5118735"/>
            <a:ext cx="228594" cy="12572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10224" y="5057775"/>
            <a:ext cx="61910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D3748"/>
                </a:solidFill>
              </a:rPr>
              <a:t>错误代码示例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3" y="5429250"/>
            <a:ext cx="4686182" cy="914400"/>
          </a:xfrm>
          <a:prstGeom prst="roundRect">
            <a:avLst>
              <a:gd name="adj" fmla="val 1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67028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773" y="114300"/>
            <a:ext cx="606727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全新系统交互全景图：Agentic RAG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2400300"/>
            <a:ext cx="8000799" cy="2667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584" y="2400300"/>
            <a:ext cx="8000799" cy="26670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</a:rPr>
              <a:t>graph LR User[开发者 VS Code] CopilotPlugin[Copilot 插件前端 @mycorp Bot] RouterLLM[云端 LLM 意图路由] FastAPI[内网网关 FastAPI 后端] Chroma[(本地 ChromaDB 向量库 + BGE-M3)] GenLLM[云端 LLM 内容生成] User --&gt;|提问| CopilotPlugin CopilotPlugin --&gt;|隐式分析| RouterLLM RouterLLM --&gt;|返回目标模块| CopilotPlugin CopilotPlugin --&gt;|Query + 模块 + 身份| FastAPI FastAPI --&gt;|权限校验 + 硬过滤| Chroma Chroma --&gt;|精准上下文| FastAPI FastAPI --&gt;|返回 Context| CopilotPlugin CopilotPlugin --&gt;|Context + Query| GenLLM GenLLM --&gt;|流式输出代码| CopilotPlugin CopilotPlugin --&gt;|展示结果| User classDef client fill:#e3f2fd,stroke:#1565c0,stroke-width:2px,color:#1a237e classDef llm fill:#e8f5e9,stroke:#2e7d32,stroke-width:2px,color:#1b5e20 classDef server fill:#fff3e0,stroke:#e65100,stroke-width:2px,color:#e65100 classDef db fill:#fce4ec,stroke:#c2185b,stroke-width:2px,color:#880e4f class User,CopilotPlugin client class RouterLLM,GenLLM llm class FastAPI server class Chroma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177" y="1114425"/>
            <a:ext cx="2666933" cy="809625"/>
          </a:xfrm>
          <a:prstGeom prst="roundRect">
            <a:avLst>
              <a:gd name="adj" fmla="val 2823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8576405" y="1453197"/>
            <a:ext cx="809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1" y="1337896"/>
            <a:ext cx="304792" cy="2579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62860" y="1304925"/>
            <a:ext cx="83817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DC143C"/>
                </a:solidFill>
              </a:rPr>
              <a:t>核心亮点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177" y="2114550"/>
            <a:ext cx="2666933" cy="9715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05672" y="2334039"/>
            <a:ext cx="266693" cy="2087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86662" y="2305049"/>
            <a:ext cx="105724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DC143C"/>
                </a:solidFill>
              </a:rPr>
              <a:t>意图路由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6662" y="2667000"/>
            <a:ext cx="10572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D3748"/>
                </a:solidFill>
              </a:rPr>
              <a:t>智能分析用户查询意图，精准定位业务模块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177" y="3276599"/>
            <a:ext cx="2666933" cy="9715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05672" y="3475796"/>
            <a:ext cx="266693" cy="24930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86662" y="3467100"/>
            <a:ext cx="100009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DC143C"/>
                </a:solidFill>
              </a:rPr>
              <a:t>物理隔离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6662" y="3829050"/>
            <a:ext cx="10000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D3748"/>
                </a:solidFill>
              </a:rPr>
              <a:t>敏感数据保留内网，云端仅处理通用推理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177" y="4438649"/>
            <a:ext cx="2666933" cy="9715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05672" y="4653790"/>
            <a:ext cx="266693" cy="21741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86662" y="4629150"/>
            <a:ext cx="141918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DC143C"/>
                </a:solidFill>
              </a:rPr>
              <a:t>白嫖云端算力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6662" y="4991100"/>
            <a:ext cx="141918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D3748"/>
                </a:solidFill>
              </a:rPr>
              <a:t>利用 Copilot 云端资源，降低本地部署成本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308412"/>
            <a:ext cx="342891" cy="1832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773" y="114300"/>
            <a:ext cx="533386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核心链路剖析：系统时序图展示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2286000"/>
            <a:ext cx="6448263" cy="28956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584" y="2286000"/>
            <a:ext cx="6448263" cy="2895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</a:rPr>
              <a:t> sequenceDiagram autonumber participant U as 开发者 (VS Code) participant IDE as 插件 (@mycorp) participant Router as 云端大模型 (Router) participant Backend as 内网后端 (Python) participant DB as 本地向量库 (Chroma) U-&gt;&gt;IDE: "下单时报余额不足怎么查？" IDE-&gt;&gt;Router: [隐式] 判断涉及哪些系统模块？ Router--&gt;&gt;IDE: 返回 JSON: ["order-center", "payment-gateway"] IDE-&gt;&gt;Backend: POST /retrieve</a:t>
            </a:r>
            <a:r>
              <a:rPr sz="1104"/>
              <a:t>
</a:t>
            </a:r>
            <a:r>
              <a:rPr sz="956" b="0">
                <a:solidFill>
                  <a:srgbClr val="000000"/>
                </a:solidFill>
              </a:rPr>
              <a:t>{query, domains, username: "zhangsan"} rect rgb(255, 235, 238) Note over Backend: 🔐 核心拦截：权限交集计算 Backend-&gt;&gt;Backend: 判断 zhangsan 是否有 order 和 payment 权限 end alt 权限不足 Backend--&gt;&gt;IDE: 403 Forbidden IDE--&gt;&gt;U: ⛔ 警告：您无权访问支付核心逻辑 else 权限校验通过 Backend-&gt;&gt;DB: 开启 $in 硬过滤检索</a:t>
            </a:r>
            <a:r>
              <a:rPr sz="1104"/>
              <a:t>
</a:t>
            </a:r>
            <a:r>
              <a:rPr sz="956" b="0">
                <a:solidFill>
                  <a:srgbClr val="000000"/>
                </a:solidFill>
              </a:rPr>
              <a:t>filter = domain in [...] DB--&gt;&gt;Backend: 返回高精度业务知识碎片 Backend--&gt;&gt;IDE: 拼装后的标准 Context IDE-&gt;&gt;U: ✅ 展示精准答案 end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6442" y="1114425"/>
            <a:ext cx="4295667" cy="1543050"/>
          </a:xfrm>
          <a:prstGeom prst="roundRect">
            <a:avLst>
              <a:gd name="adj" fmla="val 14814"/>
            </a:avLst>
          </a:prstGeom>
          <a:solidFill>
            <a:srgbClr val="FEF2F2"/>
          </a:solidFill>
          <a:ln w="3302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515037" y="1344267"/>
            <a:ext cx="266693" cy="2261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96027" y="1314450"/>
            <a:ext cx="114297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C143C"/>
                </a:solidFill>
              </a:rPr>
              <a:t>权限拒绝场景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15037" y="1714500"/>
            <a:ext cx="3867053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629334" y="18618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96027" y="1828800"/>
            <a:ext cx="11905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DC143C"/>
                </a:solidFill>
              </a:rPr>
              <a:t>403 Forbidden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5037" y="2247899"/>
            <a:ext cx="386705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用户无权访问支付核心逻辑时，系统会返回权限错误提示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6442" y="2809875"/>
            <a:ext cx="4295667" cy="1009649"/>
          </a:xfrm>
          <a:prstGeom prst="roundRect">
            <a:avLst>
              <a:gd name="adj" fmla="val 22641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86462" y="3028121"/>
            <a:ext cx="266693" cy="24930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867453" y="3009900"/>
            <a:ext cx="95247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C143C"/>
                </a:solidFill>
              </a:rPr>
              <a:t>硬过滤机制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6462" y="3409950"/>
            <a:ext cx="389562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使用 $filter 参数进行域名硬过滤，确保检索结果不越界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6442" y="3981449"/>
            <a:ext cx="4295667" cy="1009649"/>
          </a:xfrm>
          <a:prstGeom prst="roundRect">
            <a:avLst>
              <a:gd name="adj" fmla="val 22641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86462" y="4199696"/>
            <a:ext cx="266693" cy="24930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867453" y="4181474"/>
            <a:ext cx="92390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C143C"/>
                </a:solidFill>
              </a:rPr>
              <a:t>行级 RBAC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6462" y="4581524"/>
            <a:ext cx="389562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基于用户身份进行细粒度权限控制，实现数据隔离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67028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773" y="114300"/>
            <a:ext cx="653398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数据基建：Diátaxis 规范与元数据注入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038224"/>
            <a:ext cx="5333866" cy="28956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1321044"/>
            <a:ext cx="304792" cy="2344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7268" y="1266824"/>
            <a:ext cx="186685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DC143C"/>
                </a:solidFill>
              </a:rPr>
              <a:t>Diátaxis 文档框架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179" y="1762125"/>
            <a:ext cx="2362140" cy="895350"/>
          </a:xfrm>
          <a:prstGeom prst="roundRect">
            <a:avLst>
              <a:gd name="adj" fmla="val 17021"/>
            </a:avLst>
          </a:prstGeom>
          <a:solidFill>
            <a:srgbClr val="EFF6FF"/>
          </a:solidFill>
          <a:ln w="1651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9624" y="1987867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1933574"/>
            <a:ext cx="82865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C143C"/>
                </a:solidFill>
              </a:rPr>
              <a:t>Tutorials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24" y="2295525"/>
            <a:ext cx="20192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教程 · 学习导向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2716" y="1762125"/>
            <a:ext cx="2362140" cy="895350"/>
          </a:xfrm>
          <a:prstGeom prst="roundRect">
            <a:avLst>
              <a:gd name="adj" fmla="val 17021"/>
            </a:avLst>
          </a:prstGeom>
          <a:solidFill>
            <a:srgbClr val="F0FDF4"/>
          </a:solidFill>
          <a:ln w="1651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524161" y="1966436"/>
            <a:ext cx="228594" cy="2200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28954" y="1933574"/>
            <a:ext cx="68578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C143C"/>
                </a:solidFill>
              </a:rPr>
              <a:t>How-to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4161" y="2295525"/>
            <a:ext cx="20192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操作指南 · 任务导向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179" y="2809875"/>
            <a:ext cx="2362140" cy="895350"/>
          </a:xfrm>
          <a:prstGeom prst="roundRect">
            <a:avLst>
              <a:gd name="adj" fmla="val 17021"/>
            </a:avLst>
          </a:prstGeom>
          <a:solidFill>
            <a:srgbClr val="FAF5FF"/>
          </a:solidFill>
          <a:ln w="1651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09624" y="3027045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14417" y="2981325"/>
            <a:ext cx="93342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C143C"/>
                </a:solidFill>
              </a:rPr>
              <a:t>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24" y="3343275"/>
            <a:ext cx="20192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参考资料 · 信息导向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52716" y="2809875"/>
            <a:ext cx="2362140" cy="895350"/>
          </a:xfrm>
          <a:prstGeom prst="roundRect">
            <a:avLst>
              <a:gd name="adj" fmla="val 17021"/>
            </a:avLst>
          </a:prstGeom>
          <a:solidFill>
            <a:srgbClr val="FFF7ED"/>
          </a:solidFill>
          <a:ln w="1651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524161" y="3027045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828954" y="2981325"/>
            <a:ext cx="111439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C143C"/>
                </a:solidFill>
              </a:rPr>
              <a:t>Explanation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4161" y="3343275"/>
            <a:ext cx="20192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解释说明 · 理解导向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584" y="4086225"/>
            <a:ext cx="5333866" cy="647699"/>
          </a:xfrm>
          <a:prstGeom prst="roundRect">
            <a:avLst>
              <a:gd name="adj" fmla="val 35294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351775" y="4344034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38179" y="4285421"/>
            <a:ext cx="266693" cy="24930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19169" y="4286250"/>
            <a:ext cx="87627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D3748"/>
                </a:solidFill>
              </a:rPr>
              <a:t>结构化文档分类，提升检索精度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8243" y="1038224"/>
            <a:ext cx="5333866" cy="4638674"/>
          </a:xfrm>
          <a:prstGeom prst="roundRect">
            <a:avLst>
              <a:gd name="adj" fmla="val 492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76838" y="1356213"/>
            <a:ext cx="304792" cy="16412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95927" y="1266824"/>
            <a:ext cx="180017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DC143C"/>
                </a:solidFill>
              </a:rPr>
              <a:t>YAML 元数据注入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6838" y="1762125"/>
            <a:ext cx="4876678" cy="3686175"/>
          </a:xfrm>
          <a:prstGeom prst="roundRect">
            <a:avLst>
              <a:gd name="adj" fmla="val 4134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67333" y="195262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6B6B"/>
                </a:solidFill>
              </a:rPr>
              <a:t>---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333" y="2228850"/>
            <a:ext cx="5619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C143C"/>
                </a:solidFill>
              </a:rPr>
              <a:t>domain: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05492" y="2228850"/>
            <a:ext cx="96200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6B6B"/>
                </a:solidFill>
              </a:rPr>
              <a:t>order-center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7333" y="2466975"/>
            <a:ext cx="4000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C143C"/>
                </a:solidFill>
              </a:rPr>
              <a:t>type: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43571" y="2466975"/>
            <a:ext cx="7238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6B6B"/>
                </a:solidFill>
              </a:rPr>
              <a:t>reference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7333" y="2714625"/>
            <a:ext cx="6381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C143C"/>
                </a:solidFill>
              </a:rPr>
              <a:t>version: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1215" y="2714625"/>
            <a:ext cx="32384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6B6B"/>
                </a:solidFill>
              </a:rPr>
              <a:t>v1.0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7333" y="2952750"/>
            <a:ext cx="10381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C143C"/>
                </a:solidFill>
              </a:rPr>
              <a:t>access_level: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1255" y="2952750"/>
            <a:ext cx="6381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6B6B"/>
                </a:solidFill>
              </a:rPr>
              <a:t>internal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7333" y="3190874"/>
            <a:ext cx="10381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C143C"/>
                </a:solidFill>
              </a:rPr>
              <a:t>last_updated: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1255" y="3190874"/>
            <a:ext cx="8000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6B6B"/>
                </a:solidFill>
              </a:rPr>
              <a:t>2024-01-15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7333" y="3390899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6B6B"/>
                </a:solidFill>
              </a:rPr>
              <a:t>---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7333" y="3781424"/>
            <a:ext cx="7238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6B6B"/>
                </a:solidFill>
              </a:rPr>
              <a:t># 订单状态机枚举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67333" y="4019549"/>
            <a:ext cx="20763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6B6B"/>
                </a:solidFill>
              </a:rPr>
              <a:t># Order State Machine Enum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67333" y="430530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DC143C"/>
                </a:solidFill>
              </a:rPr>
              <a:t>class</a:t>
            </a:r>
            <a:r>
              <a:rPr sz="837" b="0">
                <a:solidFill>
                  <a:srgbClr val="E2E8F0"/>
                </a:solidFill>
              </a:rPr>
              <a:t> </a:t>
            </a:r>
            <a:r>
              <a:rPr sz="837" b="0">
                <a:solidFill>
                  <a:srgbClr val="FF6B6B"/>
                </a:solidFill>
              </a:rPr>
              <a:t>OrderStatus</a:t>
            </a:r>
            <a:r>
              <a:rPr sz="837" b="0">
                <a:solidFill>
                  <a:srgbClr val="E2E8F0"/>
                </a:solidFill>
              </a:rPr>
              <a:t>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67333" y="4543425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6B6B"/>
                </a:solidFill>
              </a:rPr>
              <a:t>PENDING</a:t>
            </a:r>
            <a:r>
              <a:rPr sz="837" b="0">
                <a:solidFill>
                  <a:srgbClr val="E2E8F0"/>
                </a:solidFill>
              </a:rPr>
              <a:t> = </a:t>
            </a:r>
            <a:r>
              <a:rPr sz="837" b="0">
                <a:solidFill>
                  <a:srgbClr val="FFA07A"/>
                </a:solidFill>
              </a:rPr>
              <a:t>"pending"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67333" y="4781549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6B6B"/>
                </a:solidFill>
              </a:rPr>
              <a:t>CONFIRMED</a:t>
            </a:r>
            <a:r>
              <a:rPr sz="837" b="0">
                <a:solidFill>
                  <a:srgbClr val="E2E8F0"/>
                </a:solidFill>
              </a:rPr>
              <a:t> = </a:t>
            </a:r>
            <a:r>
              <a:rPr sz="837" b="0">
                <a:solidFill>
                  <a:srgbClr val="FFA07A"/>
                </a:solidFill>
              </a:rPr>
              <a:t>"confirmed"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67333" y="5019675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6B6B"/>
                </a:solidFill>
              </a:rPr>
              <a:t>PROCESSING</a:t>
            </a:r>
            <a:r>
              <a:rPr sz="837" b="0">
                <a:solidFill>
                  <a:srgbClr val="E2E8F0"/>
                </a:solidFill>
              </a:rPr>
              <a:t> = </a:t>
            </a:r>
            <a:r>
              <a:rPr sz="837" b="0">
                <a:solidFill>
                  <a:srgbClr val="FFA07A"/>
                </a:solidFill>
              </a:rPr>
              <a:t>"processing"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828754" y="5829300"/>
            <a:ext cx="2600259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057348" y="59436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2133546" y="6062662"/>
            <a:ext cx="228594" cy="14287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552636" y="5991225"/>
            <a:ext cx="164778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C143C"/>
                </a:solidFill>
              </a:rPr>
              <a:t>强制注入YAML标签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724281" y="6038435"/>
            <a:ext cx="266693" cy="191328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5295767" y="5829300"/>
            <a:ext cx="1904952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524361" y="59436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600559" y="6036945"/>
            <a:ext cx="228594" cy="19430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019649" y="5991225"/>
            <a:ext cx="95247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C143C"/>
                </a:solidFill>
              </a:rPr>
              <a:t>结构化切分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505512" y="6038435"/>
            <a:ext cx="266693" cy="191328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8076998" y="5829300"/>
            <a:ext cx="2285942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305592" y="59436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381790" y="6076950"/>
            <a:ext cx="228594" cy="1143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800879" y="5991225"/>
            <a:ext cx="133346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C143C"/>
                </a:solidFill>
              </a:rPr>
              <a:t>元数据死死绑定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78852"/>
            <a:ext cx="342891" cy="2423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773" y="114300"/>
            <a:ext cx="716262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检索心脏：高性能本地向量引擎 (BGE-M3)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114425"/>
            <a:ext cx="5371965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179" y="1343025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DC143C"/>
              </a:gs>
              <a:gs pos="100000">
                <a:srgbClr val="8B0000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71525" y="1514803"/>
            <a:ext cx="342891" cy="2660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00159" y="1352549"/>
            <a:ext cx="2876478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DC143C"/>
                </a:solidFill>
              </a:rPr>
              <a:t>BAAI/bge-m3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159" y="1752599"/>
            <a:ext cx="28764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18096"/>
                </a:solidFill>
              </a:rPr>
              <a:t>Multi-Linguality • Multi-Granularity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179" y="2143125"/>
            <a:ext cx="1562060" cy="857250"/>
          </a:xfrm>
          <a:prstGeom prst="roundRect">
            <a:avLst>
              <a:gd name="adj" fmla="val 17777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476" y="2257425"/>
            <a:ext cx="133346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260"/>
              </a:spcAft>
            </a:pPr>
            <a:r>
              <a:rPr sz="1674" b="1">
                <a:solidFill>
                  <a:srgbClr val="DC143C"/>
                </a:solidFill>
              </a:rPr>
              <a:t>8192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76" y="2695575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最大输入长度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537" y="2143125"/>
            <a:ext cx="1562060" cy="857250"/>
          </a:xfrm>
          <a:prstGeom prst="roundRect">
            <a:avLst>
              <a:gd name="adj" fmla="val 17777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8834" y="2257425"/>
            <a:ext cx="133346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260"/>
              </a:spcAft>
            </a:pPr>
            <a:r>
              <a:rPr sz="1674" b="1">
                <a:solidFill>
                  <a:srgbClr val="DC143C"/>
                </a:solidFill>
              </a:rPr>
              <a:t>100+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8834" y="2695575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支持语言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0895" y="2143125"/>
            <a:ext cx="1562060" cy="857250"/>
          </a:xfrm>
          <a:prstGeom prst="roundRect">
            <a:avLst>
              <a:gd name="adj" fmla="val 17777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5192" y="2257425"/>
            <a:ext cx="133346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260"/>
              </a:spcAft>
            </a:pPr>
            <a:r>
              <a:rPr sz="1674" b="1">
                <a:solidFill>
                  <a:srgbClr val="DC143C"/>
                </a:solidFill>
              </a:rPr>
              <a:t>3种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5192" y="2695575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检索模式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179" y="3152775"/>
            <a:ext cx="1181070" cy="409574"/>
          </a:xfrm>
          <a:prstGeom prst="roundRect">
            <a:avLst>
              <a:gd name="adj" fmla="val 37209"/>
            </a:avLst>
          </a:prstGeom>
          <a:solidFill>
            <a:srgbClr val="FEF2F2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2000" y="3295650"/>
            <a:ext cx="93342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143C"/>
                </a:solidFill>
              </a:rPr>
              <a:t>Dense Retrieval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95447" y="3152775"/>
            <a:ext cx="1219169" cy="409574"/>
          </a:xfrm>
          <a:prstGeom prst="roundRect">
            <a:avLst>
              <a:gd name="adj" fmla="val 37209"/>
            </a:avLst>
          </a:prstGeom>
          <a:solidFill>
            <a:srgbClr val="FEF2F2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9269" y="3295650"/>
            <a:ext cx="9715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143C"/>
                </a:solidFill>
              </a:rPr>
              <a:t>Sparse Retrieval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90815" y="3152775"/>
            <a:ext cx="1543011" cy="409574"/>
          </a:xfrm>
          <a:prstGeom prst="roundRect">
            <a:avLst>
              <a:gd name="adj" fmla="val 37209"/>
            </a:avLst>
          </a:prstGeom>
          <a:solidFill>
            <a:srgbClr val="FEF2F2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4637" y="3295650"/>
            <a:ext cx="12953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143C"/>
                </a:solidFill>
              </a:rPr>
              <a:t>Multi-Vector Retrieval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0144" y="1114425"/>
            <a:ext cx="5371965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8739" y="1343025"/>
            <a:ext cx="609584" cy="60960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FF6B6B"/>
              </a:gs>
              <a:gs pos="100000">
                <a:srgbClr val="DC143C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72085" y="1624302"/>
            <a:ext cx="342891" cy="470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00719" y="1352549"/>
            <a:ext cx="232404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DC143C"/>
                </a:solidFill>
              </a:rPr>
              <a:t>ChromaDB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719" y="1752599"/>
            <a:ext cx="23240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18096"/>
                </a:solidFill>
              </a:rPr>
              <a:t>Vector Database • Open Source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38739" y="2143125"/>
            <a:ext cx="2400239" cy="742950"/>
          </a:xfrm>
          <a:prstGeom prst="roundRect">
            <a:avLst>
              <a:gd name="adj" fmla="val 20512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62560" y="2312613"/>
            <a:ext cx="190495" cy="1372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29254" y="2266950"/>
            <a:ext cx="6095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DC143C"/>
                </a:solidFill>
              </a:rPr>
              <a:t>极速检索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2560" y="2571750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高性能向量搜索引擎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53276" y="2143125"/>
            <a:ext cx="2400239" cy="742950"/>
          </a:xfrm>
          <a:prstGeom prst="roundRect">
            <a:avLst>
              <a:gd name="adj" fmla="val 20512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077098" y="2305610"/>
            <a:ext cx="190495" cy="15127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343791" y="2266950"/>
            <a:ext cx="6095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DC143C"/>
                </a:solidFill>
              </a:rPr>
              <a:t>本地部署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7098" y="2571750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数据完全留在内网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38739" y="3000375"/>
            <a:ext cx="2400239" cy="742950"/>
          </a:xfrm>
          <a:prstGeom prst="roundRect">
            <a:avLst>
              <a:gd name="adj" fmla="val 20512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62560" y="3153055"/>
            <a:ext cx="190495" cy="17088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829254" y="3124200"/>
            <a:ext cx="6095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DC143C"/>
                </a:solidFill>
              </a:rPr>
              <a:t>灵活扩展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2560" y="3429000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支持多种元数据过滤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53276" y="3000375"/>
            <a:ext cx="2400239" cy="742950"/>
          </a:xfrm>
          <a:prstGeom prst="roundRect">
            <a:avLst>
              <a:gd name="adj" fmla="val 20512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077098" y="3155856"/>
            <a:ext cx="190495" cy="16528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343791" y="3124200"/>
            <a:ext cx="6095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DC143C"/>
                </a:solidFill>
              </a:rPr>
              <a:t>易于集成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7098" y="3429000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Python API 简洁友好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9584" y="4200525"/>
            <a:ext cx="3533686" cy="2352675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-500713" y="5310822"/>
            <a:ext cx="2352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38179" y="43910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33426" y="4494971"/>
            <a:ext cx="266693" cy="24930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409664" y="4457700"/>
            <a:ext cx="17144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DC143C"/>
                </a:solidFill>
              </a:rPr>
              <a:t>🛡️ 100% 断网可用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38179" y="5011686"/>
            <a:ext cx="171445" cy="14932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85822" y="4962525"/>
            <a:ext cx="3905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D3748"/>
                </a:solidFill>
              </a:rPr>
              <a:t>数据不流出内网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38179" y="5316486"/>
            <a:ext cx="171445" cy="14932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85822" y="5267324"/>
            <a:ext cx="3333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D3748"/>
                </a:solidFill>
              </a:rPr>
              <a:t>完全离线运行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38179" y="5621286"/>
            <a:ext cx="171445" cy="14932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85822" y="5572125"/>
            <a:ext cx="4476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D3748"/>
                </a:solidFill>
              </a:rPr>
              <a:t>符合企业安全规范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33766" y="4200525"/>
            <a:ext cx="3533686" cy="2352675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 Same Side Corner Rectangle 58"/>
          <p:cNvSpPr/>
          <p:nvPr/>
        </p:nvSpPr>
        <p:spPr>
          <a:xfrm rot="16200000">
            <a:off x="3223469" y="5310822"/>
            <a:ext cx="2352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562360" y="43910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657608" y="4508016"/>
            <a:ext cx="266693" cy="22321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133846" y="4457700"/>
            <a:ext cx="117154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DC143C"/>
                </a:solidFill>
              </a:rPr>
              <a:t>🚀 多语言极强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562360" y="5011686"/>
            <a:ext cx="171445" cy="14932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810004" y="4962525"/>
            <a:ext cx="6953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D3748"/>
                </a:solidFill>
              </a:rPr>
              <a:t>中英夹杂 + 代码特化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562360" y="5316486"/>
            <a:ext cx="171445" cy="14932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810004" y="5267324"/>
            <a:ext cx="7524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D3748"/>
                </a:solidFill>
              </a:rPr>
              <a:t>支持8192长度输入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562360" y="5621286"/>
            <a:ext cx="171445" cy="149327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810004" y="5572125"/>
            <a:ext cx="3905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D3748"/>
                </a:solidFill>
              </a:rPr>
              <a:t>多粒度检索优化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48423" y="4200525"/>
            <a:ext cx="3533686" cy="2352675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 Same Side Corner Rectangle 69"/>
          <p:cNvSpPr/>
          <p:nvPr/>
        </p:nvSpPr>
        <p:spPr>
          <a:xfrm rot="16200000">
            <a:off x="6938126" y="5310822"/>
            <a:ext cx="2352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277018" y="43910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372265" y="4523960"/>
            <a:ext cx="266693" cy="19132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848503" y="4457700"/>
            <a:ext cx="117154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DC143C"/>
                </a:solidFill>
              </a:rPr>
              <a:t>💻 轻量级部署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77018" y="5011686"/>
            <a:ext cx="171445" cy="14932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524661" y="4962525"/>
            <a:ext cx="7334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D3748"/>
                </a:solidFill>
              </a:rPr>
              <a:t>普通CPU即可极速运行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77018" y="5316486"/>
            <a:ext cx="171445" cy="149327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524661" y="5267324"/>
            <a:ext cx="4476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D3748"/>
                </a:solidFill>
              </a:rPr>
              <a:t>三种检索模式支持</a:t>
            </a:r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77018" y="5621286"/>
            <a:ext cx="171445" cy="149327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524661" y="5572125"/>
            <a:ext cx="3905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D3748"/>
                </a:solidFill>
              </a:rPr>
              <a:t>低成本硬件要求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72940"/>
            <a:ext cx="342891" cy="2542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773" y="114300"/>
            <a:ext cx="562913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开发者体验与最终业务价值 (ROI)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038224"/>
            <a:ext cx="5371965" cy="533400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84" y="1038224"/>
            <a:ext cx="5371965" cy="4191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80" y="11906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2476" y="11906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2971" y="11906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5862" y="1152524"/>
            <a:ext cx="21621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@mycorp - VS Code Extension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" y="1457325"/>
            <a:ext cx="5371965" cy="49149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0079" y="16478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1736622"/>
            <a:ext cx="171445" cy="12720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219169" y="1647825"/>
            <a:ext cx="4571885" cy="428625"/>
          </a:xfrm>
          <a:prstGeom prst="roundRect">
            <a:avLst>
              <a:gd name="adj" fmla="val 355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3466" y="1762125"/>
            <a:ext cx="434329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@mycorp 前端调登录接口报错 401 怎么办？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079" y="219074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66753" y="2271251"/>
            <a:ext cx="171445" cy="14379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219169" y="2190749"/>
            <a:ext cx="4571885" cy="695325"/>
          </a:xfrm>
          <a:prstGeom prst="roundRect">
            <a:avLst>
              <a:gd name="adj" fmla="val 21917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937547" y="2472371"/>
            <a:ext cx="695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371565" y="2340691"/>
            <a:ext cx="171445" cy="13826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19209" y="2305049"/>
            <a:ext cx="87627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143C"/>
                </a:solidFill>
              </a:rPr>
              <a:t>🧠 分析业务模块...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565" y="2581275"/>
            <a:ext cx="43051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识别关键词：登录、接口、401错误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9169" y="2962274"/>
            <a:ext cx="4571885" cy="695325"/>
          </a:xfrm>
          <a:prstGeom prst="roundRect">
            <a:avLst>
              <a:gd name="adj" fmla="val 21917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937547" y="3243896"/>
            <a:ext cx="695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371565" y="3097161"/>
            <a:ext cx="171445" cy="1493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19209" y="3076574"/>
            <a:ext cx="136204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143C"/>
                </a:solidFill>
              </a:rPr>
              <a:t>🎯 锁定: user-center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565" y="3352800"/>
            <a:ext cx="43051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权限校验通过 · 检索相关知识库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19169" y="3733799"/>
            <a:ext cx="4571885" cy="1495424"/>
          </a:xfrm>
          <a:prstGeom prst="roundRect">
            <a:avLst>
              <a:gd name="adj" fmla="val 1019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537497" y="4415471"/>
            <a:ext cx="14954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371565" y="3872680"/>
            <a:ext cx="171445" cy="16038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619209" y="3848099"/>
            <a:ext cx="72388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143C"/>
                </a:solidFill>
              </a:rPr>
              <a:t>✨ 生成回答...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565" y="4124324"/>
            <a:ext cx="4305192" cy="990599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7763" y="4200525"/>
            <a:ext cx="41527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2D3748"/>
                </a:solidFill>
              </a:rPr>
              <a:t>根据 </a:t>
            </a:r>
            <a:r>
              <a:rPr sz="837" b="1">
                <a:solidFill>
                  <a:srgbClr val="DC143C"/>
                </a:solidFill>
              </a:rPr>
              <a:t>user-center</a:t>
            </a:r>
            <a:r>
              <a:rPr sz="837" b="0">
                <a:solidFill>
                  <a:srgbClr val="2D3748"/>
                </a:solidFill>
              </a:rPr>
              <a:t> 文档：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7763" y="4467224"/>
            <a:ext cx="4152796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D3748"/>
                </a:solidFill>
              </a:rPr>
              <a:t>1. 检查请求头中的 Authorization token 格式</a:t>
            </a:r>
            <a:r>
              <a:rPr sz="1104"/>
              <a:t>
</a:t>
            </a:r>
            <a:r>
              <a:rPr sz="837" b="0">
                <a:solidFill>
                  <a:srgbClr val="2D3748"/>
                </a:solidFill>
              </a:rPr>
              <a:t>2. 验证 token 是否已过期</a:t>
            </a:r>
            <a:r>
              <a:rPr sz="1104"/>
              <a:t>
</a:t>
            </a:r>
            <a:r>
              <a:rPr sz="837" b="0">
                <a:solidFill>
                  <a:srgbClr val="2D3748"/>
                </a:solidFill>
              </a:rPr>
              <a:t>3. 确认用户权限是否充足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0144" y="1038224"/>
            <a:ext cx="5371965" cy="15621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495134" y="1753234"/>
            <a:ext cx="1562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38739" y="12287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33986" y="1338469"/>
            <a:ext cx="266693" cy="23771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010224" y="1295399"/>
            <a:ext cx="104772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DC143C"/>
                </a:solidFill>
              </a:rPr>
              <a:t>极高准确率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38739" y="1890432"/>
            <a:ext cx="190495" cy="16248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05432" y="1838324"/>
            <a:ext cx="144776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2D3748"/>
                </a:solidFill>
              </a:rPr>
              <a:t>Diátaxis + 意图路由</a:t>
            </a:r>
            <a:r>
              <a:rPr sz="956" b="0">
                <a:solidFill>
                  <a:srgbClr val="2D3748"/>
                </a:solidFill>
              </a:rPr>
              <a:t>，告别 AI 瞎编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38739" y="2214282"/>
            <a:ext cx="190495" cy="162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05432" y="2162174"/>
            <a:ext cx="158111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D3748"/>
                </a:solidFill>
              </a:rPr>
              <a:t>精准定位业务模块，检索结果相关性提升 </a:t>
            </a:r>
            <a:r>
              <a:rPr sz="956" b="1">
                <a:solidFill>
                  <a:srgbClr val="DC143C"/>
                </a:solidFill>
              </a:rPr>
              <a:t>85%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0144" y="2752725"/>
            <a:ext cx="5371965" cy="15621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5495134" y="3467735"/>
            <a:ext cx="1562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38739" y="29432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33986" y="3063115"/>
            <a:ext cx="266693" cy="21741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010224" y="3019424"/>
            <a:ext cx="83817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DC143C"/>
                </a:solidFill>
              </a:rPr>
              <a:t>极低成本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38739" y="3604932"/>
            <a:ext cx="190495" cy="16248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705432" y="3552825"/>
            <a:ext cx="217164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2D3748"/>
                </a:solidFill>
              </a:rPr>
              <a:t>白嫖 Copilot 云端算力</a:t>
            </a:r>
            <a:r>
              <a:rPr sz="956" b="0">
                <a:solidFill>
                  <a:srgbClr val="2D3748"/>
                </a:solidFill>
              </a:rPr>
              <a:t>，后端仅需低配机器跑 Chroma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38739" y="3928782"/>
            <a:ext cx="190495" cy="16248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705432" y="3876674"/>
            <a:ext cx="160968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D3748"/>
                </a:solidFill>
              </a:rPr>
              <a:t>硬件成本降低 </a:t>
            </a:r>
            <a:r>
              <a:rPr sz="956" b="1">
                <a:solidFill>
                  <a:srgbClr val="DC143C"/>
                </a:solidFill>
              </a:rPr>
              <a:t>70%</a:t>
            </a:r>
            <a:r>
              <a:rPr sz="956" b="0">
                <a:solidFill>
                  <a:srgbClr val="2D3748"/>
                </a:solidFill>
              </a:rPr>
              <a:t>，运维成本降低 </a:t>
            </a:r>
            <a:r>
              <a:rPr sz="956" b="1">
                <a:solidFill>
                  <a:srgbClr val="DC143C"/>
                </a:solidFill>
              </a:rPr>
              <a:t>60%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0144" y="4467224"/>
            <a:ext cx="5371965" cy="1552574"/>
          </a:xfrm>
          <a:prstGeom prst="roundRect">
            <a:avLst>
              <a:gd name="adj" fmla="val 1472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 rot="16200000">
            <a:off x="5499897" y="5177471"/>
            <a:ext cx="15525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38739" y="46577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533986" y="4761671"/>
            <a:ext cx="266693" cy="24930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010224" y="4733925"/>
            <a:ext cx="83817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DC143C"/>
                </a:solidFill>
              </a:rPr>
              <a:t>绝对安全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38739" y="5319432"/>
            <a:ext cx="190495" cy="16248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705432" y="5267324"/>
            <a:ext cx="126679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2D3748"/>
                </a:solidFill>
              </a:rPr>
              <a:t>行级 RBAC 交集控制</a:t>
            </a:r>
            <a:r>
              <a:rPr sz="956" b="0">
                <a:solidFill>
                  <a:srgbClr val="2D3748"/>
                </a:solidFill>
              </a:rPr>
              <a:t>，硬代码物理隔离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38739" y="5643282"/>
            <a:ext cx="190495" cy="16248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705432" y="5591175"/>
            <a:ext cx="100009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D3748"/>
                </a:solidFill>
              </a:rPr>
              <a:t>零数据泄露风险，符合企业安全合规要求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